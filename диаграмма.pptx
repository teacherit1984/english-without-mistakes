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6" d="100"/>
          <a:sy n="56" d="100"/>
        </p:scale>
        <p:origin x="1714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FEBF0-7F8D-400D-BC03-9E02EF378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5B3135-FEA9-4A81-80B1-15B905379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A2EC40-A950-47CF-99D0-503642305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B0EC96-2FF2-460B-9741-18FBF1FB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568096-73AA-4797-A7C5-ACD4D2E9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93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6FBA2-9C9F-4384-8DD9-FE09B9D6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674C24-C0F1-4089-A027-3E1669A5C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EECD16-871A-473D-B145-CF5B1FC21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52C736-0078-4242-BE52-01B8AD25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C1BFD8-8EEC-4F97-927F-1CDB7F4F2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846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7F943-B4B6-47BC-85F5-38B29F24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1ED594-73C0-4785-9321-F0A97A117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CFDCFB-3148-437E-ADD3-6A2606F2D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33CEE7-CBE0-4379-B1ED-61A7D6D1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37FE54-2E83-4797-842F-048BD059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40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D13D8-4A29-4523-80DA-AE3BE64F0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E65A16-66F4-4E87-A763-B8075A059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3220EE-4623-4C23-945D-69D43B726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CFB467-2F69-4B2C-A321-494926838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AF2707-414C-4E67-AF6B-11FE89B1A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BB8897-609A-4A5E-8217-D4CD3627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17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B674D-AF52-4CAC-8579-DFDEE905E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D38CB2-7618-4931-86EA-846A8FF3B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5B50D6-5135-423F-9D28-C4481C85C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7C32CD-AD06-4105-A4D2-B44342786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31B07C1-3FB1-4DF2-8D5A-5B2F9466E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3EE3114-F963-4257-80A1-B5E826E8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924B99-8D82-4221-8FF7-B0B6B685C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D5428C-BAFD-40DB-99CD-F7887856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07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0AF6A-A92E-4300-9158-50105386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98A6787-8836-4B57-8078-60CD20960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BEA653-0F96-4F2F-B7D6-E038BD0AD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657F88-C28F-426F-AE8F-E1BBD9DB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1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635214E-E9F4-4D31-9EA9-DE71C10B2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055F756-1BE0-4409-96D0-A5A60180B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715857-8025-45F9-9DB2-851E8B1D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951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FDAEC-2CD4-41AF-B53B-2B956612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9B586E-BFFD-46A0-84A7-4C79097F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541F84-C93B-4D19-90C6-840E94692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71B825-575C-4AA0-885E-4364D4F8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1829CE-15B4-41C2-9A8D-9CCBC455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52FDA8-D37A-4FCD-9A6F-E0DF6E9B8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88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40A602-B7A6-4D5A-893E-C5BF89C4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6AC9B17-956A-423D-B46C-31E770031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068CCA0-C64C-40CC-A34B-B70215C7A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027077-5447-430A-8F25-7CC95036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9803BE-CF2D-46DB-B55D-70E8E408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6D28EF-F1D7-49CA-9AE1-ACED2099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87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785FD5-C179-40E3-8989-9D63FEA8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FB4F9A-018B-4DFA-A824-194FF34ED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6C4653-52EC-4D04-A698-326D11DB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BB1EA2-4829-4BE3-820E-A90568C0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16BA0E-0EBA-4102-8B92-AFCC08D0B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30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EB5D2FB-D348-4B20-9EBF-904D55F20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F36A05-B0DC-4246-8E39-6D72523DA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ABB26-2565-42F2-AD78-EE610A71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872A90-3CE0-403B-9E34-E28CE9BF9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498A33-0863-4C55-B6E6-E0D944A4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80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4CF64-3A6D-479E-8C1A-DB1A04857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417097-3C1B-4EBA-8E6B-A8483C6DA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256996-AD3D-43DA-BF4B-4AFB6BC66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E242A-8EBC-4A2F-9F51-494D8F428B9E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548288-B7E9-405E-83FB-5EC356808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72C056-FA7E-4327-BBA5-43A60DE56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B922F-C8AB-4C1A-BB04-0D2BF890B6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74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3A1E75F-2C01-4B19-8534-9B22B519F7F5}"/>
              </a:ext>
            </a:extLst>
          </p:cNvPr>
          <p:cNvSpPr/>
          <p:nvPr/>
        </p:nvSpPr>
        <p:spPr>
          <a:xfrm>
            <a:off x="1787068" y="214604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4B4CAB-8EE6-4C67-8BFC-B88EA6E7098B}"/>
              </a:ext>
            </a:extLst>
          </p:cNvPr>
          <p:cNvSpPr/>
          <p:nvPr/>
        </p:nvSpPr>
        <p:spPr>
          <a:xfrm>
            <a:off x="4274177" y="196404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6BF3C-02D4-41B1-A411-BD83BD362B63}"/>
              </a:ext>
            </a:extLst>
          </p:cNvPr>
          <p:cNvSpPr txBox="1"/>
          <p:nvPr/>
        </p:nvSpPr>
        <p:spPr>
          <a:xfrm>
            <a:off x="1728135" y="391949"/>
            <a:ext cx="17384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Ученик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(User)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BF228A-BFD2-49CB-9218-AC1F4EE7B550}"/>
              </a:ext>
            </a:extLst>
          </p:cNvPr>
          <p:cNvSpPr txBox="1"/>
          <p:nvPr/>
        </p:nvSpPr>
        <p:spPr>
          <a:xfrm>
            <a:off x="4439370" y="329868"/>
            <a:ext cx="1355078" cy="635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Бот MAX </a:t>
            </a:r>
          </a:p>
          <a:p>
            <a:pPr algn="ctr" rtl="0">
              <a:lnSpc>
                <a:spcPct val="115000"/>
              </a:lnSpc>
            </a:pP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(Interface)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EBF0C29-71C1-42AD-8F50-ECBAF1663791}"/>
              </a:ext>
            </a:extLst>
          </p:cNvPr>
          <p:cNvSpPr/>
          <p:nvPr/>
        </p:nvSpPr>
        <p:spPr>
          <a:xfrm>
            <a:off x="1836410" y="1857770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1CD3E5-C2C1-4BAC-9DB1-3D3A93B60108}"/>
              </a:ext>
            </a:extLst>
          </p:cNvPr>
          <p:cNvSpPr txBox="1"/>
          <p:nvPr/>
        </p:nvSpPr>
        <p:spPr>
          <a:xfrm>
            <a:off x="1997825" y="1990685"/>
            <a:ext cx="1355078" cy="635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Бот MAX </a:t>
            </a:r>
          </a:p>
          <a:p>
            <a:pPr algn="ctr" rtl="0">
              <a:lnSpc>
                <a:spcPct val="115000"/>
              </a:lnSpc>
            </a:pP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(Interface)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63E969E-A4B0-48A9-BFFA-17E8E4EA705C}"/>
              </a:ext>
            </a:extLst>
          </p:cNvPr>
          <p:cNvSpPr/>
          <p:nvPr/>
        </p:nvSpPr>
        <p:spPr>
          <a:xfrm>
            <a:off x="4323519" y="1832572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A15DD1-EF29-4709-9311-CFD6FB15FE8A}"/>
              </a:ext>
            </a:extLst>
          </p:cNvPr>
          <p:cNvSpPr txBox="1"/>
          <p:nvPr/>
        </p:nvSpPr>
        <p:spPr>
          <a:xfrm>
            <a:off x="4073195" y="2005081"/>
            <a:ext cx="22365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RAG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(Search Engine)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3D18618A-4CAB-4C8D-9EE3-DE9F001760AD}"/>
              </a:ext>
            </a:extLst>
          </p:cNvPr>
          <p:cNvSpPr/>
          <p:nvPr/>
        </p:nvSpPr>
        <p:spPr>
          <a:xfrm>
            <a:off x="1831075" y="3567708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714FFC-41E0-45FB-884D-DE1805B5ECDE}"/>
              </a:ext>
            </a:extLst>
          </p:cNvPr>
          <p:cNvSpPr txBox="1"/>
          <p:nvPr/>
        </p:nvSpPr>
        <p:spPr>
          <a:xfrm>
            <a:off x="1679963" y="3723069"/>
            <a:ext cx="1922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RAG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(Search Engine)</a:t>
            </a:r>
          </a:p>
        </p:txBody>
      </p:sp>
      <p:sp>
        <p:nvSpPr>
          <p:cNvPr id="29" name="Стрелка: вправо 28">
            <a:extLst>
              <a:ext uri="{FF2B5EF4-FFF2-40B4-BE49-F238E27FC236}">
                <a16:creationId xmlns:a16="http://schemas.microsoft.com/office/drawing/2014/main" id="{EDEF1236-B17D-4226-AF2C-AC59AE42B05E}"/>
              </a:ext>
            </a:extLst>
          </p:cNvPr>
          <p:cNvSpPr/>
          <p:nvPr/>
        </p:nvSpPr>
        <p:spPr>
          <a:xfrm>
            <a:off x="3583560" y="3824153"/>
            <a:ext cx="619489" cy="444504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5D3A5AED-E6BC-44BB-864D-13DE325ADAEC}"/>
              </a:ext>
            </a:extLst>
          </p:cNvPr>
          <p:cNvSpPr/>
          <p:nvPr/>
        </p:nvSpPr>
        <p:spPr>
          <a:xfrm>
            <a:off x="4318184" y="3588074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E6007C-C353-4062-A261-97A7388A13CA}"/>
              </a:ext>
            </a:extLst>
          </p:cNvPr>
          <p:cNvSpPr txBox="1"/>
          <p:nvPr/>
        </p:nvSpPr>
        <p:spPr>
          <a:xfrm>
            <a:off x="4208349" y="3748557"/>
            <a:ext cx="1922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Векторная База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Base)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69AB4A-368E-47E5-9AC3-E13C84DAAD52}"/>
              </a:ext>
            </a:extLst>
          </p:cNvPr>
          <p:cNvSpPr txBox="1"/>
          <p:nvPr/>
        </p:nvSpPr>
        <p:spPr>
          <a:xfrm>
            <a:off x="2889023" y="4509513"/>
            <a:ext cx="1987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effectLst/>
              </a:rPr>
              <a:t>«Поиск топ-3 фрагментов»</a:t>
            </a:r>
          </a:p>
          <a:p>
            <a:endParaRPr lang="ru-RU" sz="1400" dirty="0"/>
          </a:p>
        </p:txBody>
      </p:sp>
      <p:sp>
        <p:nvSpPr>
          <p:cNvPr id="33" name="Стрелка: вправо 32">
            <a:extLst>
              <a:ext uri="{FF2B5EF4-FFF2-40B4-BE49-F238E27FC236}">
                <a16:creationId xmlns:a16="http://schemas.microsoft.com/office/drawing/2014/main" id="{417539D0-BEA6-41DB-9393-5C519643B4AF}"/>
              </a:ext>
            </a:extLst>
          </p:cNvPr>
          <p:cNvSpPr/>
          <p:nvPr/>
        </p:nvSpPr>
        <p:spPr>
          <a:xfrm>
            <a:off x="3607958" y="2125286"/>
            <a:ext cx="619489" cy="444504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4" name="Стрелка: вправо 33">
            <a:extLst>
              <a:ext uri="{FF2B5EF4-FFF2-40B4-BE49-F238E27FC236}">
                <a16:creationId xmlns:a16="http://schemas.microsoft.com/office/drawing/2014/main" id="{C2F37EA2-FC31-470D-AB2C-7568424665A3}"/>
              </a:ext>
            </a:extLst>
          </p:cNvPr>
          <p:cNvSpPr/>
          <p:nvPr/>
        </p:nvSpPr>
        <p:spPr>
          <a:xfrm>
            <a:off x="3558615" y="463696"/>
            <a:ext cx="619489" cy="444504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83F6AB-E42D-4833-A1C8-16AF1B1B770C}"/>
              </a:ext>
            </a:extLst>
          </p:cNvPr>
          <p:cNvSpPr txBox="1"/>
          <p:nvPr/>
        </p:nvSpPr>
        <p:spPr>
          <a:xfrm>
            <a:off x="2751763" y="2823381"/>
            <a:ext cx="23981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effectLst/>
              </a:rPr>
              <a:t>«Передача запроса + </a:t>
            </a:r>
            <a:r>
              <a:rPr lang="ru-RU" sz="1600" b="1" dirty="0" err="1">
                <a:effectLst/>
              </a:rPr>
              <a:t>эмбеддинг</a:t>
            </a:r>
            <a:r>
              <a:rPr lang="ru-RU" sz="1600" b="1" dirty="0">
                <a:effectLst/>
              </a:rPr>
              <a:t>»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339112F-719A-4D4C-A02D-760581710BE4}"/>
              </a:ext>
            </a:extLst>
          </p:cNvPr>
          <p:cNvSpPr/>
          <p:nvPr/>
        </p:nvSpPr>
        <p:spPr>
          <a:xfrm>
            <a:off x="1819496" y="5167708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69A88E-9064-43A3-B217-CBE73585A386}"/>
              </a:ext>
            </a:extLst>
          </p:cNvPr>
          <p:cNvSpPr txBox="1"/>
          <p:nvPr/>
        </p:nvSpPr>
        <p:spPr>
          <a:xfrm>
            <a:off x="1675962" y="5356258"/>
            <a:ext cx="1922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RAG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(Search Engine)</a:t>
            </a:r>
          </a:p>
        </p:txBody>
      </p:sp>
      <p:sp>
        <p:nvSpPr>
          <p:cNvPr id="45" name="Стрелка: вправо 44">
            <a:extLst>
              <a:ext uri="{FF2B5EF4-FFF2-40B4-BE49-F238E27FC236}">
                <a16:creationId xmlns:a16="http://schemas.microsoft.com/office/drawing/2014/main" id="{B25E38E2-D164-4F08-B3D1-1356CBFDF7FE}"/>
              </a:ext>
            </a:extLst>
          </p:cNvPr>
          <p:cNvSpPr/>
          <p:nvPr/>
        </p:nvSpPr>
        <p:spPr>
          <a:xfrm>
            <a:off x="3595121" y="5374851"/>
            <a:ext cx="619489" cy="444504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FC9B17EA-8231-4B9C-BDA6-50564022C61B}"/>
              </a:ext>
            </a:extLst>
          </p:cNvPr>
          <p:cNvSpPr/>
          <p:nvPr/>
        </p:nvSpPr>
        <p:spPr>
          <a:xfrm>
            <a:off x="4306605" y="5188074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608646-FD3B-435A-ADF6-A5658F35E25F}"/>
              </a:ext>
            </a:extLst>
          </p:cNvPr>
          <p:cNvSpPr txBox="1"/>
          <p:nvPr/>
        </p:nvSpPr>
        <p:spPr>
          <a:xfrm>
            <a:off x="4203947" y="5361535"/>
            <a:ext cx="1922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Векторная База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Base)</a:t>
            </a:r>
            <a:endParaRPr lang="ru-R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2EEEF1-7654-4E12-830E-1F4942DC3F45}"/>
              </a:ext>
            </a:extLst>
          </p:cNvPr>
          <p:cNvSpPr txBox="1"/>
          <p:nvPr/>
        </p:nvSpPr>
        <p:spPr>
          <a:xfrm>
            <a:off x="2807642" y="6180566"/>
            <a:ext cx="2188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effectLst/>
              </a:rPr>
              <a:t>«Найденный текст (контекст)»</a:t>
            </a:r>
          </a:p>
          <a:p>
            <a:endParaRPr lang="ru-RU" sz="1400" dirty="0"/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B43734BE-8F82-49DA-94DB-7BFFD8EC14A7}"/>
              </a:ext>
            </a:extLst>
          </p:cNvPr>
          <p:cNvSpPr/>
          <p:nvPr/>
        </p:nvSpPr>
        <p:spPr>
          <a:xfrm>
            <a:off x="7561366" y="194162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493381-5F7D-4D50-99A4-62C8FFCD4583}"/>
              </a:ext>
            </a:extLst>
          </p:cNvPr>
          <p:cNvSpPr txBox="1"/>
          <p:nvPr/>
        </p:nvSpPr>
        <p:spPr>
          <a:xfrm>
            <a:off x="7463581" y="346338"/>
            <a:ext cx="1922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RAG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(Search Engine)</a:t>
            </a:r>
          </a:p>
        </p:txBody>
      </p:sp>
      <p:sp>
        <p:nvSpPr>
          <p:cNvPr id="56" name="Стрелка: вправо 55">
            <a:extLst>
              <a:ext uri="{FF2B5EF4-FFF2-40B4-BE49-F238E27FC236}">
                <a16:creationId xmlns:a16="http://schemas.microsoft.com/office/drawing/2014/main" id="{430A15BF-99FE-408C-8F0F-662E431C2C35}"/>
              </a:ext>
            </a:extLst>
          </p:cNvPr>
          <p:cNvSpPr/>
          <p:nvPr/>
        </p:nvSpPr>
        <p:spPr>
          <a:xfrm>
            <a:off x="9336991" y="401305"/>
            <a:ext cx="619489" cy="444504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B52D31A6-F378-4088-A6B8-8E7131195B61}"/>
              </a:ext>
            </a:extLst>
          </p:cNvPr>
          <p:cNvSpPr/>
          <p:nvPr/>
        </p:nvSpPr>
        <p:spPr>
          <a:xfrm>
            <a:off x="10036135" y="247343"/>
            <a:ext cx="1593602" cy="880556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C89131-054E-4025-942D-8B2508564A4D}"/>
              </a:ext>
            </a:extLst>
          </p:cNvPr>
          <p:cNvSpPr txBox="1"/>
          <p:nvPr/>
        </p:nvSpPr>
        <p:spPr>
          <a:xfrm>
            <a:off x="10078291" y="237120"/>
            <a:ext cx="16081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Нейросеть </a:t>
            </a:r>
            <a:r>
              <a:rPr lang="ru-RU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YandexGPT</a:t>
            </a: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(AI Core)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BEEA45-B875-4177-A963-6E2AB63365D3}"/>
              </a:ext>
            </a:extLst>
          </p:cNvPr>
          <p:cNvSpPr txBox="1"/>
          <p:nvPr/>
        </p:nvSpPr>
        <p:spPr>
          <a:xfrm>
            <a:off x="8394078" y="1227004"/>
            <a:ext cx="27320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effectLst/>
              </a:rPr>
              <a:t>«</a:t>
            </a:r>
            <a:r>
              <a:rPr lang="ru-RU" sz="1600" b="1" dirty="0" err="1">
                <a:effectLst/>
              </a:rPr>
              <a:t>Промт</a:t>
            </a:r>
            <a:r>
              <a:rPr lang="ru-RU" sz="1600" b="1" dirty="0">
                <a:effectLst/>
              </a:rPr>
              <a:t>: Контекст + Вопрос»</a:t>
            </a:r>
          </a:p>
          <a:p>
            <a:endParaRPr lang="ru-RU" sz="1400" dirty="0"/>
          </a:p>
        </p:txBody>
      </p:sp>
      <p:sp>
        <p:nvSpPr>
          <p:cNvPr id="60" name="Прямоугольник: скругленные углы 59">
            <a:extLst>
              <a:ext uri="{FF2B5EF4-FFF2-40B4-BE49-F238E27FC236}">
                <a16:creationId xmlns:a16="http://schemas.microsoft.com/office/drawing/2014/main" id="{AD401063-AF50-4C23-A09F-0E26B41FD878}"/>
              </a:ext>
            </a:extLst>
          </p:cNvPr>
          <p:cNvSpPr/>
          <p:nvPr/>
        </p:nvSpPr>
        <p:spPr>
          <a:xfrm>
            <a:off x="10039635" y="1804670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5205D478-84D3-4456-9D9E-3EB3E092AFAB}"/>
              </a:ext>
            </a:extLst>
          </p:cNvPr>
          <p:cNvSpPr/>
          <p:nvPr/>
        </p:nvSpPr>
        <p:spPr>
          <a:xfrm>
            <a:off x="7552526" y="1804670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47EE1E-6D3E-4324-88FE-72C1FE05AC7B}"/>
              </a:ext>
            </a:extLst>
          </p:cNvPr>
          <p:cNvSpPr txBox="1"/>
          <p:nvPr/>
        </p:nvSpPr>
        <p:spPr>
          <a:xfrm>
            <a:off x="9952320" y="1971877"/>
            <a:ext cx="1922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RAG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(Search Engine)</a:t>
            </a:r>
          </a:p>
        </p:txBody>
      </p:sp>
      <p:sp>
        <p:nvSpPr>
          <p:cNvPr id="62" name="Стрелка: вправо 61">
            <a:extLst>
              <a:ext uri="{FF2B5EF4-FFF2-40B4-BE49-F238E27FC236}">
                <a16:creationId xmlns:a16="http://schemas.microsoft.com/office/drawing/2014/main" id="{DFCEA1D1-136C-4EE2-AAB3-CA7E9BC1EEC5}"/>
              </a:ext>
            </a:extLst>
          </p:cNvPr>
          <p:cNvSpPr/>
          <p:nvPr/>
        </p:nvSpPr>
        <p:spPr>
          <a:xfrm>
            <a:off x="9324946" y="2078924"/>
            <a:ext cx="619489" cy="444504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0FBC89-BF08-4173-8F23-4E4670154F1F}"/>
              </a:ext>
            </a:extLst>
          </p:cNvPr>
          <p:cNvSpPr txBox="1"/>
          <p:nvPr/>
        </p:nvSpPr>
        <p:spPr>
          <a:xfrm>
            <a:off x="7578776" y="1873793"/>
            <a:ext cx="16914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Нейросеть </a:t>
            </a:r>
            <a:r>
              <a:rPr lang="ru-RU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YandexGPT</a:t>
            </a: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(AI Core)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88CD1C-FF92-4611-88F5-C47B54BE1B1E}"/>
              </a:ext>
            </a:extLst>
          </p:cNvPr>
          <p:cNvSpPr txBox="1"/>
          <p:nvPr/>
        </p:nvSpPr>
        <p:spPr>
          <a:xfrm>
            <a:off x="8673353" y="2795232"/>
            <a:ext cx="19226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effectLst/>
              </a:rPr>
              <a:t>«Сгенерированный ответ»</a:t>
            </a:r>
          </a:p>
          <a:p>
            <a:pPr algn="ctr"/>
            <a:endParaRPr lang="ru-RU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177AC9-BF56-4ADA-9F4A-4256DA00240C}"/>
              </a:ext>
            </a:extLst>
          </p:cNvPr>
          <p:cNvSpPr txBox="1"/>
          <p:nvPr/>
        </p:nvSpPr>
        <p:spPr>
          <a:xfrm>
            <a:off x="964925" y="1090562"/>
            <a:ext cx="59055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effectLst/>
              </a:rPr>
              <a:t>«Запрос: </a:t>
            </a:r>
          </a:p>
          <a:p>
            <a:pPr algn="ctr"/>
            <a:r>
              <a:rPr lang="ru-RU" sz="1600" b="1" dirty="0">
                <a:effectLst/>
              </a:rPr>
              <a:t>Где правило?</a:t>
            </a:r>
            <a:r>
              <a:rPr lang="ru-RU" sz="1600" b="1" dirty="0"/>
              <a:t>»</a:t>
            </a:r>
            <a:endParaRPr lang="ru-RU" sz="1600" b="1" dirty="0">
              <a:effectLst/>
            </a:endParaRPr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DD6C15E4-3E80-4FEB-AA25-528702C34FEF}"/>
              </a:ext>
            </a:extLst>
          </p:cNvPr>
          <p:cNvSpPr/>
          <p:nvPr/>
        </p:nvSpPr>
        <p:spPr>
          <a:xfrm>
            <a:off x="10078291" y="3573495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5C128E-EEA9-4B68-A1F0-BC313DD3245A}"/>
              </a:ext>
            </a:extLst>
          </p:cNvPr>
          <p:cNvSpPr txBox="1"/>
          <p:nvPr/>
        </p:nvSpPr>
        <p:spPr>
          <a:xfrm>
            <a:off x="10243484" y="3706959"/>
            <a:ext cx="1355078" cy="635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Бот MAX </a:t>
            </a:r>
          </a:p>
          <a:p>
            <a:pPr algn="ctr" rtl="0">
              <a:lnSpc>
                <a:spcPct val="115000"/>
              </a:lnSpc>
            </a:pP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(Interface)</a:t>
            </a:r>
          </a:p>
        </p:txBody>
      </p:sp>
      <p:sp>
        <p:nvSpPr>
          <p:cNvPr id="71" name="Прямоугольник: скругленные углы 70">
            <a:extLst>
              <a:ext uri="{FF2B5EF4-FFF2-40B4-BE49-F238E27FC236}">
                <a16:creationId xmlns:a16="http://schemas.microsoft.com/office/drawing/2014/main" id="{97E12246-3A15-4E2A-B29B-C07CC4E42B47}"/>
              </a:ext>
            </a:extLst>
          </p:cNvPr>
          <p:cNvSpPr/>
          <p:nvPr/>
        </p:nvSpPr>
        <p:spPr>
          <a:xfrm>
            <a:off x="7594403" y="3573495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5083EA-9E42-41E2-9C4A-117E00E2339F}"/>
              </a:ext>
            </a:extLst>
          </p:cNvPr>
          <p:cNvSpPr txBox="1"/>
          <p:nvPr/>
        </p:nvSpPr>
        <p:spPr>
          <a:xfrm>
            <a:off x="7507088" y="3740702"/>
            <a:ext cx="19226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RAG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(Search Engine)</a:t>
            </a:r>
          </a:p>
        </p:txBody>
      </p:sp>
      <p:sp>
        <p:nvSpPr>
          <p:cNvPr id="73" name="Стрелка: вправо 72">
            <a:extLst>
              <a:ext uri="{FF2B5EF4-FFF2-40B4-BE49-F238E27FC236}">
                <a16:creationId xmlns:a16="http://schemas.microsoft.com/office/drawing/2014/main" id="{0C418503-739F-4F2D-BD54-18C6B882929C}"/>
              </a:ext>
            </a:extLst>
          </p:cNvPr>
          <p:cNvSpPr/>
          <p:nvPr/>
        </p:nvSpPr>
        <p:spPr>
          <a:xfrm>
            <a:off x="9317208" y="3819568"/>
            <a:ext cx="619489" cy="444504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7B705F-8794-4B7A-B06E-2CEB57C5464F}"/>
              </a:ext>
            </a:extLst>
          </p:cNvPr>
          <p:cNvSpPr txBox="1"/>
          <p:nvPr/>
        </p:nvSpPr>
        <p:spPr>
          <a:xfrm>
            <a:off x="8752783" y="4540510"/>
            <a:ext cx="178790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effectLst/>
              </a:rPr>
              <a:t>«Финальный текст»</a:t>
            </a:r>
          </a:p>
          <a:p>
            <a:endParaRPr lang="ru-RU" dirty="0"/>
          </a:p>
        </p:txBody>
      </p:sp>
      <p:sp>
        <p:nvSpPr>
          <p:cNvPr id="75" name="Прямоугольник: скругленные углы 74">
            <a:extLst>
              <a:ext uri="{FF2B5EF4-FFF2-40B4-BE49-F238E27FC236}">
                <a16:creationId xmlns:a16="http://schemas.microsoft.com/office/drawing/2014/main" id="{45B0D93E-A008-4C6B-8994-F6F9A6F60FF6}"/>
              </a:ext>
            </a:extLst>
          </p:cNvPr>
          <p:cNvSpPr/>
          <p:nvPr/>
        </p:nvSpPr>
        <p:spPr>
          <a:xfrm>
            <a:off x="7589134" y="5165881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FE0993-7672-44D6-8EBE-13DCCF9AD872}"/>
              </a:ext>
            </a:extLst>
          </p:cNvPr>
          <p:cNvSpPr txBox="1"/>
          <p:nvPr/>
        </p:nvSpPr>
        <p:spPr>
          <a:xfrm>
            <a:off x="7754327" y="5299345"/>
            <a:ext cx="1355078" cy="635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Бот MAX </a:t>
            </a:r>
          </a:p>
          <a:p>
            <a:pPr algn="ctr" rtl="0">
              <a:lnSpc>
                <a:spcPct val="115000"/>
              </a:lnSpc>
            </a:pP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(Interface)</a:t>
            </a:r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F079A9F9-817A-4F1F-A660-38E8ECF946B3}"/>
              </a:ext>
            </a:extLst>
          </p:cNvPr>
          <p:cNvSpPr/>
          <p:nvPr/>
        </p:nvSpPr>
        <p:spPr>
          <a:xfrm>
            <a:off x="10166794" y="5147584"/>
            <a:ext cx="1635607" cy="923330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8C7500-1646-4F5D-9ADD-70A47299BF22}"/>
              </a:ext>
            </a:extLst>
          </p:cNvPr>
          <p:cNvSpPr txBox="1"/>
          <p:nvPr/>
        </p:nvSpPr>
        <p:spPr>
          <a:xfrm>
            <a:off x="10107861" y="5324929"/>
            <a:ext cx="17384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Ученик </a:t>
            </a:r>
          </a:p>
          <a:p>
            <a:pPr algn="ctr"/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(User)</a:t>
            </a:r>
          </a:p>
        </p:txBody>
      </p:sp>
      <p:sp>
        <p:nvSpPr>
          <p:cNvPr id="79" name="Стрелка: вправо 78">
            <a:extLst>
              <a:ext uri="{FF2B5EF4-FFF2-40B4-BE49-F238E27FC236}">
                <a16:creationId xmlns:a16="http://schemas.microsoft.com/office/drawing/2014/main" id="{4C4F024C-F88B-42C2-9B10-51B08E02A2AF}"/>
              </a:ext>
            </a:extLst>
          </p:cNvPr>
          <p:cNvSpPr/>
          <p:nvPr/>
        </p:nvSpPr>
        <p:spPr>
          <a:xfrm>
            <a:off x="9373036" y="5450333"/>
            <a:ext cx="619489" cy="444504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1DEBAF-1656-4BEA-9046-1CCE05666D53}"/>
              </a:ext>
            </a:extLst>
          </p:cNvPr>
          <p:cNvSpPr txBox="1"/>
          <p:nvPr/>
        </p:nvSpPr>
        <p:spPr>
          <a:xfrm>
            <a:off x="8477421" y="6149789"/>
            <a:ext cx="230102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effectLst/>
              </a:rPr>
              <a:t>«Сообщение с ответом + Меню»</a:t>
            </a: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9F1BCE-5F93-45D5-AA74-5CD076F961FE}"/>
              </a:ext>
            </a:extLst>
          </p:cNvPr>
          <p:cNvSpPr txBox="1"/>
          <p:nvPr/>
        </p:nvSpPr>
        <p:spPr>
          <a:xfrm>
            <a:off x="1062518" y="324673"/>
            <a:ext cx="47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538B6D-8416-4D74-95CE-477E32F15A0E}"/>
              </a:ext>
            </a:extLst>
          </p:cNvPr>
          <p:cNvSpPr txBox="1"/>
          <p:nvPr/>
        </p:nvSpPr>
        <p:spPr>
          <a:xfrm>
            <a:off x="1100720" y="2005081"/>
            <a:ext cx="47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795021-8D5B-4B04-98FB-5B9C38C4E0EB}"/>
              </a:ext>
            </a:extLst>
          </p:cNvPr>
          <p:cNvSpPr txBox="1"/>
          <p:nvPr/>
        </p:nvSpPr>
        <p:spPr>
          <a:xfrm>
            <a:off x="1156574" y="3709923"/>
            <a:ext cx="47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0D36DD-76EC-4049-8474-C891C38E7CF8}"/>
              </a:ext>
            </a:extLst>
          </p:cNvPr>
          <p:cNvSpPr txBox="1"/>
          <p:nvPr/>
        </p:nvSpPr>
        <p:spPr>
          <a:xfrm>
            <a:off x="1205517" y="5273937"/>
            <a:ext cx="47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73EF8AB-1F19-40C6-868A-14203960E14C}"/>
              </a:ext>
            </a:extLst>
          </p:cNvPr>
          <p:cNvSpPr txBox="1"/>
          <p:nvPr/>
        </p:nvSpPr>
        <p:spPr>
          <a:xfrm>
            <a:off x="6976056" y="346338"/>
            <a:ext cx="47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82470B6-8C70-4B01-99BA-4E8D9BB4C742}"/>
              </a:ext>
            </a:extLst>
          </p:cNvPr>
          <p:cNvSpPr txBox="1"/>
          <p:nvPr/>
        </p:nvSpPr>
        <p:spPr>
          <a:xfrm>
            <a:off x="7072794" y="1980297"/>
            <a:ext cx="47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328E56B-BA8F-40A0-A0AD-415BCF4BA250}"/>
              </a:ext>
            </a:extLst>
          </p:cNvPr>
          <p:cNvSpPr txBox="1"/>
          <p:nvPr/>
        </p:nvSpPr>
        <p:spPr>
          <a:xfrm>
            <a:off x="7109402" y="3772797"/>
            <a:ext cx="47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28BB96A-208E-454B-A5CA-A88885AB806E}"/>
              </a:ext>
            </a:extLst>
          </p:cNvPr>
          <p:cNvSpPr txBox="1"/>
          <p:nvPr/>
        </p:nvSpPr>
        <p:spPr>
          <a:xfrm>
            <a:off x="7126300" y="5337229"/>
            <a:ext cx="47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691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F9DB0132-B859-4132-8B03-6C31CF3F19D4}"/>
              </a:ext>
            </a:extLst>
          </p:cNvPr>
          <p:cNvGrpSpPr/>
          <p:nvPr/>
        </p:nvGrpSpPr>
        <p:grpSpPr>
          <a:xfrm>
            <a:off x="154598" y="398891"/>
            <a:ext cx="2572948" cy="1681307"/>
            <a:chOff x="1307466" y="1109027"/>
            <a:chExt cx="2572948" cy="1681307"/>
          </a:xfrm>
        </p:grpSpPr>
        <p:sp>
          <p:nvSpPr>
            <p:cNvPr id="3" name="Овал 2">
              <a:extLst>
                <a:ext uri="{FF2B5EF4-FFF2-40B4-BE49-F238E27FC236}">
                  <a16:creationId xmlns:a16="http://schemas.microsoft.com/office/drawing/2014/main" id="{9DFFC3D4-87D4-4CF1-8AB1-B9E6D5E9F10A}"/>
                </a:ext>
              </a:extLst>
            </p:cNvPr>
            <p:cNvSpPr/>
            <p:nvPr/>
          </p:nvSpPr>
          <p:spPr>
            <a:xfrm>
              <a:off x="1690537" y="1109027"/>
              <a:ext cx="1806807" cy="1681307"/>
            </a:xfrm>
            <a:prstGeom prst="ellipse">
              <a:avLst/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6C79F7-F923-4899-9C5C-939D7584C520}"/>
                </a:ext>
              </a:extLst>
            </p:cNvPr>
            <p:cNvSpPr txBox="1"/>
            <p:nvPr/>
          </p:nvSpPr>
          <p:spPr>
            <a:xfrm>
              <a:off x="1307466" y="1732175"/>
              <a:ext cx="25729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Запуск скрипта индексации</a:t>
              </a:r>
            </a:p>
            <a:p>
              <a:endParaRPr lang="ru-RU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0516B5-EAAB-4143-BC26-812BC144BB82}"/>
                </a:ext>
              </a:extLst>
            </p:cNvPr>
            <p:cNvSpPr txBox="1"/>
            <p:nvPr/>
          </p:nvSpPr>
          <p:spPr>
            <a:xfrm>
              <a:off x="2006857" y="1228014"/>
              <a:ext cx="17345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</a:rPr>
                <a:t>н</a:t>
              </a:r>
              <a:r>
                <a:rPr lang="ru-RU" sz="2400" b="1" dirty="0">
                  <a:solidFill>
                    <a:schemeClr val="bg1"/>
                  </a:solidFill>
                  <a:effectLst/>
                </a:rPr>
                <a:t>ачало</a:t>
              </a:r>
            </a:p>
            <a:p>
              <a:endParaRPr lang="ru-RU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5229988F-D803-478E-AB41-FC6EA287E1AB}"/>
              </a:ext>
            </a:extLst>
          </p:cNvPr>
          <p:cNvGrpSpPr/>
          <p:nvPr/>
        </p:nvGrpSpPr>
        <p:grpSpPr>
          <a:xfrm>
            <a:off x="439095" y="2844510"/>
            <a:ext cx="2149426" cy="1233762"/>
            <a:chOff x="1690537" y="3656951"/>
            <a:chExt cx="2149426" cy="1233762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AECDD4A-DD46-4621-927D-533B9726B3B2}"/>
                </a:ext>
              </a:extLst>
            </p:cNvPr>
            <p:cNvSpPr/>
            <p:nvPr/>
          </p:nvSpPr>
          <p:spPr>
            <a:xfrm>
              <a:off x="1690537" y="3740831"/>
              <a:ext cx="2109938" cy="1149882"/>
            </a:xfrm>
            <a:prstGeom prst="roundRect">
              <a:avLst/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22161F-DCF9-4B5D-B6C4-DD8526969014}"/>
                </a:ext>
              </a:extLst>
            </p:cNvPr>
            <p:cNvSpPr txBox="1"/>
            <p:nvPr/>
          </p:nvSpPr>
          <p:spPr>
            <a:xfrm>
              <a:off x="2105431" y="3656951"/>
              <a:ext cx="17345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</a:rPr>
                <a:t>процесс</a:t>
              </a:r>
              <a:endParaRPr lang="ru-RU" sz="2400" b="1" dirty="0">
                <a:solidFill>
                  <a:schemeClr val="bg1"/>
                </a:solidFill>
                <a:effectLst/>
              </a:endParaRPr>
            </a:p>
            <a:p>
              <a:endParaRPr lang="ru-RU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978AEE-3EA2-41AD-A964-1E834D3C2256}"/>
                </a:ext>
              </a:extLst>
            </p:cNvPr>
            <p:cNvSpPr txBox="1"/>
            <p:nvPr/>
          </p:nvSpPr>
          <p:spPr>
            <a:xfrm>
              <a:off x="1911686" y="4074629"/>
              <a:ext cx="1683872" cy="6419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lnSpc>
                  <a:spcPct val="115000"/>
                </a:lnSpc>
              </a:pPr>
              <a:r>
                <a:rPr lang="ru-RU" sz="16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Открытие файла spotlight_10.pdf</a:t>
              </a: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49613599-A0F8-4083-8B80-DED0661759AB}"/>
              </a:ext>
            </a:extLst>
          </p:cNvPr>
          <p:cNvGrpSpPr/>
          <p:nvPr/>
        </p:nvGrpSpPr>
        <p:grpSpPr>
          <a:xfrm>
            <a:off x="439350" y="4827952"/>
            <a:ext cx="2149426" cy="1233762"/>
            <a:chOff x="5342554" y="3573071"/>
            <a:chExt cx="2149426" cy="1233762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4DBAFCFA-B4EF-4FDD-ABAB-CE4D1C079EBC}"/>
                </a:ext>
              </a:extLst>
            </p:cNvPr>
            <p:cNvSpPr/>
            <p:nvPr/>
          </p:nvSpPr>
          <p:spPr>
            <a:xfrm>
              <a:off x="5342554" y="3656951"/>
              <a:ext cx="2109938" cy="1149882"/>
            </a:xfrm>
            <a:prstGeom prst="roundRect">
              <a:avLst/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C5F9506-16EA-4B68-8FC8-660A59218662}"/>
                </a:ext>
              </a:extLst>
            </p:cNvPr>
            <p:cNvSpPr txBox="1"/>
            <p:nvPr/>
          </p:nvSpPr>
          <p:spPr>
            <a:xfrm>
              <a:off x="5757448" y="3573071"/>
              <a:ext cx="17345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</a:rPr>
                <a:t>процесс</a:t>
              </a:r>
              <a:endParaRPr lang="ru-RU" sz="2400" b="1" dirty="0">
                <a:solidFill>
                  <a:schemeClr val="bg1"/>
                </a:solidFill>
                <a:effectLst/>
              </a:endParaRPr>
            </a:p>
            <a:p>
              <a:endParaRPr lang="ru-RU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36DDC9-7370-4420-A4AF-6CF45BF35B7A}"/>
                </a:ext>
              </a:extLst>
            </p:cNvPr>
            <p:cNvSpPr txBox="1"/>
            <p:nvPr/>
          </p:nvSpPr>
          <p:spPr>
            <a:xfrm>
              <a:off x="5492041" y="4012225"/>
              <a:ext cx="1806807" cy="6419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lnSpc>
                  <a:spcPct val="115000"/>
                </a:lnSpc>
              </a:pPr>
              <a:r>
                <a:rPr lang="ru-RU" sz="16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Извлечение текста со всех страниц</a:t>
              </a:r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0CEE6F14-CEFF-43EE-ADC7-5C3C74EE94F4}"/>
              </a:ext>
            </a:extLst>
          </p:cNvPr>
          <p:cNvGrpSpPr/>
          <p:nvPr/>
        </p:nvGrpSpPr>
        <p:grpSpPr>
          <a:xfrm>
            <a:off x="4415418" y="379018"/>
            <a:ext cx="2141574" cy="1860959"/>
            <a:chOff x="5172677" y="929375"/>
            <a:chExt cx="2141574" cy="1860959"/>
          </a:xfrm>
        </p:grpSpPr>
        <p:sp>
          <p:nvSpPr>
            <p:cNvPr id="20" name="Пятиугольник 19">
              <a:extLst>
                <a:ext uri="{FF2B5EF4-FFF2-40B4-BE49-F238E27FC236}">
                  <a16:creationId xmlns:a16="http://schemas.microsoft.com/office/drawing/2014/main" id="{7E19CD42-67C3-4F87-B85F-FD5D0F9B4687}"/>
                </a:ext>
              </a:extLst>
            </p:cNvPr>
            <p:cNvSpPr/>
            <p:nvPr/>
          </p:nvSpPr>
          <p:spPr>
            <a:xfrm>
              <a:off x="5172677" y="929375"/>
              <a:ext cx="2141573" cy="1860959"/>
            </a:xfrm>
            <a:prstGeom prst="pentagon">
              <a:avLst/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4935259-BCE6-4436-BE30-CD3FF9A08F77}"/>
                </a:ext>
              </a:extLst>
            </p:cNvPr>
            <p:cNvSpPr txBox="1"/>
            <p:nvPr/>
          </p:nvSpPr>
          <p:spPr>
            <a:xfrm>
              <a:off x="5579719" y="1362843"/>
              <a:ext cx="17345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</a:rPr>
                <a:t>решение</a:t>
              </a:r>
              <a:endParaRPr lang="ru-RU" sz="2400" b="1" dirty="0">
                <a:solidFill>
                  <a:schemeClr val="bg1"/>
                </a:solidFill>
                <a:effectLst/>
              </a:endParaRPr>
            </a:p>
            <a:p>
              <a:endParaRPr lang="ru-RU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095F2D-251B-46C5-916E-3F145BA712B0}"/>
                </a:ext>
              </a:extLst>
            </p:cNvPr>
            <p:cNvSpPr txBox="1"/>
            <p:nvPr/>
          </p:nvSpPr>
          <p:spPr>
            <a:xfrm>
              <a:off x="5342554" y="1808823"/>
              <a:ext cx="1806808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Текст на странице &lt; 50 символов?</a:t>
              </a:r>
            </a:p>
            <a:p>
              <a:endParaRPr lang="ru-RU" dirty="0"/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D334AFB7-8B99-440A-897B-EB2672A9F04F}"/>
              </a:ext>
            </a:extLst>
          </p:cNvPr>
          <p:cNvGrpSpPr/>
          <p:nvPr/>
        </p:nvGrpSpPr>
        <p:grpSpPr>
          <a:xfrm>
            <a:off x="5788173" y="4844242"/>
            <a:ext cx="2149426" cy="1317642"/>
            <a:chOff x="8745538" y="2670133"/>
            <a:chExt cx="2149426" cy="1317642"/>
          </a:xfrm>
        </p:grpSpPr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8D814ED4-DC3C-4169-B3D9-2D8716F79873}"/>
                </a:ext>
              </a:extLst>
            </p:cNvPr>
            <p:cNvSpPr/>
            <p:nvPr/>
          </p:nvSpPr>
          <p:spPr>
            <a:xfrm>
              <a:off x="8745538" y="2754013"/>
              <a:ext cx="2109938" cy="1149882"/>
            </a:xfrm>
            <a:prstGeom prst="roundRect">
              <a:avLst/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66B3260-FD06-4438-97F9-8219ABD7FFDC}"/>
                </a:ext>
              </a:extLst>
            </p:cNvPr>
            <p:cNvSpPr txBox="1"/>
            <p:nvPr/>
          </p:nvSpPr>
          <p:spPr>
            <a:xfrm>
              <a:off x="9160432" y="2670133"/>
              <a:ext cx="17345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</a:rPr>
                <a:t>процесс</a:t>
              </a:r>
              <a:endParaRPr lang="ru-RU" sz="2400" b="1" dirty="0">
                <a:solidFill>
                  <a:schemeClr val="bg1"/>
                </a:solidFill>
                <a:effectLst/>
              </a:endParaRPr>
            </a:p>
            <a:p>
              <a:endParaRPr lang="ru-RU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076B425-E84E-4EE9-BDDF-B179EE9EB6D7}"/>
                </a:ext>
              </a:extLst>
            </p:cNvPr>
            <p:cNvSpPr txBox="1"/>
            <p:nvPr/>
          </p:nvSpPr>
          <p:spPr>
            <a:xfrm>
              <a:off x="8766171" y="3126001"/>
              <a:ext cx="206867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Разбивка текста на </a:t>
              </a:r>
              <a:r>
                <a:rPr lang="ru-RU" sz="1600" dirty="0" err="1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чанки</a:t>
              </a:r>
              <a:r>
                <a:rPr lang="ru-RU" sz="16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(300-500 слов)</a:t>
              </a:r>
            </a:p>
            <a:p>
              <a:endParaRPr lang="ru-RU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51DC81FB-B4FD-4EFA-AEBE-6021976EAEA0}"/>
              </a:ext>
            </a:extLst>
          </p:cNvPr>
          <p:cNvGrpSpPr/>
          <p:nvPr/>
        </p:nvGrpSpPr>
        <p:grpSpPr>
          <a:xfrm>
            <a:off x="8881330" y="647648"/>
            <a:ext cx="2149426" cy="1391509"/>
            <a:chOff x="8890718" y="4421030"/>
            <a:chExt cx="2149426" cy="1391509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D81E589D-FD6F-4050-98DD-3247D124F33E}"/>
                </a:ext>
              </a:extLst>
            </p:cNvPr>
            <p:cNvSpPr/>
            <p:nvPr/>
          </p:nvSpPr>
          <p:spPr>
            <a:xfrm>
              <a:off x="8890718" y="4504910"/>
              <a:ext cx="2109938" cy="1149882"/>
            </a:xfrm>
            <a:prstGeom prst="roundRect">
              <a:avLst/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0C3610F-F27D-4314-A3E7-CD7D322102C3}"/>
                </a:ext>
              </a:extLst>
            </p:cNvPr>
            <p:cNvSpPr txBox="1"/>
            <p:nvPr/>
          </p:nvSpPr>
          <p:spPr>
            <a:xfrm>
              <a:off x="9305612" y="4421030"/>
              <a:ext cx="17345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</a:rPr>
                <a:t>процесс</a:t>
              </a:r>
              <a:endParaRPr lang="ru-RU" sz="2400" b="1" dirty="0">
                <a:solidFill>
                  <a:schemeClr val="bg1"/>
                </a:solidFill>
                <a:effectLst/>
              </a:endParaRPr>
            </a:p>
            <a:p>
              <a:endParaRPr lang="ru-RU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FCE813-DA1F-4F4C-9867-1BE3824B3EEC}"/>
                </a:ext>
              </a:extLst>
            </p:cNvPr>
            <p:cNvSpPr txBox="1"/>
            <p:nvPr/>
          </p:nvSpPr>
          <p:spPr>
            <a:xfrm>
              <a:off x="8911351" y="4876898"/>
              <a:ext cx="2068672" cy="935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>
                <a:lnSpc>
                  <a:spcPct val="115000"/>
                </a:lnSpc>
              </a:pPr>
              <a:r>
                <a:rPr lang="ru-RU" sz="16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Векторизация </a:t>
              </a:r>
              <a:r>
                <a:rPr lang="ru-RU" sz="1600" dirty="0" err="1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чанков</a:t>
              </a:r>
              <a:r>
                <a:rPr lang="ru-RU" sz="16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ru-RU" sz="1600" dirty="0" err="1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</a:t>
              </a:r>
              <a:r>
                <a:rPr lang="ru-RU" sz="16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  <a:p>
              <a:endParaRPr lang="ru-RU" dirty="0"/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25E4442E-FC5F-4EE8-9C14-BA89A2A97A4C}"/>
              </a:ext>
            </a:extLst>
          </p:cNvPr>
          <p:cNvGrpSpPr/>
          <p:nvPr/>
        </p:nvGrpSpPr>
        <p:grpSpPr>
          <a:xfrm>
            <a:off x="8660959" y="2693855"/>
            <a:ext cx="2607022" cy="1477386"/>
            <a:chOff x="2885019" y="5646263"/>
            <a:chExt cx="2607022" cy="1477386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3EA5341D-7050-4CA7-8A31-9C56490AA1B8}"/>
                </a:ext>
              </a:extLst>
            </p:cNvPr>
            <p:cNvSpPr/>
            <p:nvPr/>
          </p:nvSpPr>
          <p:spPr>
            <a:xfrm>
              <a:off x="3241964" y="5700579"/>
              <a:ext cx="1877594" cy="1423070"/>
            </a:xfrm>
            <a:prstGeom prst="rect">
              <a:avLst/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AACFA8-B38A-4F14-BA12-25DC59A2DCA1}"/>
                </a:ext>
              </a:extLst>
            </p:cNvPr>
            <p:cNvSpPr txBox="1"/>
            <p:nvPr/>
          </p:nvSpPr>
          <p:spPr>
            <a:xfrm>
              <a:off x="3595558" y="5646263"/>
              <a:ext cx="17345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</a:rPr>
                <a:t>данные</a:t>
              </a:r>
              <a:endParaRPr lang="ru-RU" sz="2400" b="1" dirty="0">
                <a:solidFill>
                  <a:schemeClr val="bg1"/>
                </a:solidFill>
                <a:effectLst/>
              </a:endParaRPr>
            </a:p>
            <a:p>
              <a:endParaRPr lang="ru-RU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42F2393-5D60-4B0E-96FA-2DB32E2D7422}"/>
                </a:ext>
              </a:extLst>
            </p:cNvPr>
            <p:cNvSpPr txBox="1"/>
            <p:nvPr/>
          </p:nvSpPr>
          <p:spPr>
            <a:xfrm>
              <a:off x="2885019" y="6249533"/>
              <a:ext cx="260702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Сохранение в FAISS/</a:t>
              </a:r>
              <a:r>
                <a:rPr lang="ru-RU" sz="1600" dirty="0" err="1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ChromaDB</a:t>
              </a:r>
              <a:endPara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ru-RU" dirty="0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B8BF946A-B5B0-4E8F-AB54-038A704A11CC}"/>
              </a:ext>
            </a:extLst>
          </p:cNvPr>
          <p:cNvGrpSpPr/>
          <p:nvPr/>
        </p:nvGrpSpPr>
        <p:grpSpPr>
          <a:xfrm>
            <a:off x="9084140" y="4928122"/>
            <a:ext cx="2158699" cy="1681307"/>
            <a:chOff x="-617924" y="1967993"/>
            <a:chExt cx="2158699" cy="1681307"/>
          </a:xfrm>
        </p:grpSpPr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C6A02E66-1C50-473A-8786-8A7923B5BE45}"/>
                </a:ext>
              </a:extLst>
            </p:cNvPr>
            <p:cNvSpPr/>
            <p:nvPr/>
          </p:nvSpPr>
          <p:spPr>
            <a:xfrm>
              <a:off x="-617924" y="1967993"/>
              <a:ext cx="1806807" cy="1681307"/>
            </a:xfrm>
            <a:prstGeom prst="ellipse">
              <a:avLst/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D711584-CB6D-4469-AF42-8342C4B52E1E}"/>
                </a:ext>
              </a:extLst>
            </p:cNvPr>
            <p:cNvSpPr txBox="1"/>
            <p:nvPr/>
          </p:nvSpPr>
          <p:spPr>
            <a:xfrm>
              <a:off x="-193757" y="2070177"/>
              <a:ext cx="173453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chemeClr val="bg1"/>
                  </a:solidFill>
                </a:rPr>
                <a:t>конец</a:t>
              </a:r>
              <a:endParaRPr lang="ru-RU" sz="2400" b="1" dirty="0">
                <a:solidFill>
                  <a:schemeClr val="bg1"/>
                </a:solidFill>
                <a:effectLst/>
              </a:endParaRPr>
            </a:p>
            <a:p>
              <a:endParaRPr lang="ru-RU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696623B-94FB-48CB-9B63-9B94B72B31E6}"/>
                </a:ext>
              </a:extLst>
            </p:cNvPr>
            <p:cNvSpPr txBox="1"/>
            <p:nvPr/>
          </p:nvSpPr>
          <p:spPr>
            <a:xfrm>
              <a:off x="-433209" y="2685178"/>
              <a:ext cx="15380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База знаний готова</a:t>
              </a:r>
            </a:p>
            <a:p>
              <a:endParaRPr lang="ru-RU" dirty="0"/>
            </a:p>
          </p:txBody>
        </p:sp>
      </p:grpSp>
      <p:sp>
        <p:nvSpPr>
          <p:cNvPr id="43" name="Стрелка: вправо 42">
            <a:extLst>
              <a:ext uri="{FF2B5EF4-FFF2-40B4-BE49-F238E27FC236}">
                <a16:creationId xmlns:a16="http://schemas.microsoft.com/office/drawing/2014/main" id="{66692B92-DB97-4C42-9054-22B208F64AEC}"/>
              </a:ext>
            </a:extLst>
          </p:cNvPr>
          <p:cNvSpPr/>
          <p:nvPr/>
        </p:nvSpPr>
        <p:spPr>
          <a:xfrm rot="5400000">
            <a:off x="1159808" y="2269102"/>
            <a:ext cx="562526" cy="511313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4" name="Стрелка: вправо 43">
            <a:extLst>
              <a:ext uri="{FF2B5EF4-FFF2-40B4-BE49-F238E27FC236}">
                <a16:creationId xmlns:a16="http://schemas.microsoft.com/office/drawing/2014/main" id="{55529645-67FC-4A19-877B-55CF1495C72A}"/>
              </a:ext>
            </a:extLst>
          </p:cNvPr>
          <p:cNvSpPr/>
          <p:nvPr/>
        </p:nvSpPr>
        <p:spPr>
          <a:xfrm rot="5400000">
            <a:off x="1220916" y="4265352"/>
            <a:ext cx="562526" cy="511313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5" name="Стрелка: вправо 44">
            <a:extLst>
              <a:ext uri="{FF2B5EF4-FFF2-40B4-BE49-F238E27FC236}">
                <a16:creationId xmlns:a16="http://schemas.microsoft.com/office/drawing/2014/main" id="{9734BFD9-E34C-405F-812D-0ABD0CE7EE89}"/>
              </a:ext>
            </a:extLst>
          </p:cNvPr>
          <p:cNvSpPr/>
          <p:nvPr/>
        </p:nvSpPr>
        <p:spPr>
          <a:xfrm rot="5400000">
            <a:off x="1210976" y="6210101"/>
            <a:ext cx="562526" cy="511313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6" name="Стрелка: вправо 45">
            <a:extLst>
              <a:ext uri="{FF2B5EF4-FFF2-40B4-BE49-F238E27FC236}">
                <a16:creationId xmlns:a16="http://schemas.microsoft.com/office/drawing/2014/main" id="{AAF1482C-36F7-4589-A99C-0A1C0AE84224}"/>
              </a:ext>
            </a:extLst>
          </p:cNvPr>
          <p:cNvSpPr/>
          <p:nvPr/>
        </p:nvSpPr>
        <p:spPr>
          <a:xfrm rot="6408970">
            <a:off x="4731883" y="2447139"/>
            <a:ext cx="562526" cy="511313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7" name="Стрелка: вправо 46">
            <a:extLst>
              <a:ext uri="{FF2B5EF4-FFF2-40B4-BE49-F238E27FC236}">
                <a16:creationId xmlns:a16="http://schemas.microsoft.com/office/drawing/2014/main" id="{969B5AF8-B0C2-454A-9B2E-47ADB1D50D2D}"/>
              </a:ext>
            </a:extLst>
          </p:cNvPr>
          <p:cNvSpPr/>
          <p:nvPr/>
        </p:nvSpPr>
        <p:spPr>
          <a:xfrm rot="3721086">
            <a:off x="5753104" y="2417788"/>
            <a:ext cx="562526" cy="511313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D3767380-7A51-4266-A22A-93E0A1CAFEF5}"/>
              </a:ext>
            </a:extLst>
          </p:cNvPr>
          <p:cNvSpPr/>
          <p:nvPr/>
        </p:nvSpPr>
        <p:spPr>
          <a:xfrm>
            <a:off x="3571515" y="3060911"/>
            <a:ext cx="2109938" cy="1149882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81A0CC-BFD4-4D9F-B668-7AC97415862E}"/>
              </a:ext>
            </a:extLst>
          </p:cNvPr>
          <p:cNvSpPr txBox="1"/>
          <p:nvPr/>
        </p:nvSpPr>
        <p:spPr>
          <a:xfrm>
            <a:off x="3951834" y="2977421"/>
            <a:ext cx="17345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ответ ДА</a:t>
            </a:r>
            <a:endParaRPr lang="ru-RU" sz="2400" b="1" dirty="0">
              <a:solidFill>
                <a:schemeClr val="bg1"/>
              </a:solidFill>
              <a:effectLst/>
            </a:endParaRPr>
          </a:p>
          <a:p>
            <a:endParaRPr lang="ru-RU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12BB08-61D4-4308-B5F7-3FBE31D3CBC0}"/>
              </a:ext>
            </a:extLst>
          </p:cNvPr>
          <p:cNvSpPr txBox="1"/>
          <p:nvPr/>
        </p:nvSpPr>
        <p:spPr>
          <a:xfrm>
            <a:off x="3792664" y="3394709"/>
            <a:ext cx="1683872" cy="641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OCR (</a:t>
            </a:r>
            <a:r>
              <a:rPr lang="ru-RU" sz="16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Tesseract</a:t>
            </a: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B034F956-6CC4-4BBC-9908-88767EA62C0E}"/>
              </a:ext>
            </a:extLst>
          </p:cNvPr>
          <p:cNvSpPr/>
          <p:nvPr/>
        </p:nvSpPr>
        <p:spPr>
          <a:xfrm>
            <a:off x="5855061" y="3047315"/>
            <a:ext cx="2109938" cy="1149882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2C2332-7BC8-438F-8076-DD98920BC61E}"/>
              </a:ext>
            </a:extLst>
          </p:cNvPr>
          <p:cNvSpPr txBox="1"/>
          <p:nvPr/>
        </p:nvSpPr>
        <p:spPr>
          <a:xfrm>
            <a:off x="6203455" y="2963435"/>
            <a:ext cx="17345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ответ Нет</a:t>
            </a:r>
            <a:endParaRPr lang="ru-RU" sz="2400" b="1" dirty="0">
              <a:solidFill>
                <a:schemeClr val="bg1"/>
              </a:solidFill>
              <a:effectLst/>
            </a:endParaRPr>
          </a:p>
          <a:p>
            <a:endParaRPr lang="ru-RU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2E09F7-EBEE-427C-B090-349054415660}"/>
              </a:ext>
            </a:extLst>
          </p:cNvPr>
          <p:cNvSpPr txBox="1"/>
          <p:nvPr/>
        </p:nvSpPr>
        <p:spPr>
          <a:xfrm>
            <a:off x="5979536" y="3346753"/>
            <a:ext cx="1909422" cy="635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15000"/>
              </a:lnSpc>
            </a:pPr>
            <a:r>
              <a:rPr 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Путь к следующему блоку</a:t>
            </a:r>
          </a:p>
        </p:txBody>
      </p:sp>
      <p:sp>
        <p:nvSpPr>
          <p:cNvPr id="56" name="Стрелка: вправо 55">
            <a:extLst>
              <a:ext uri="{FF2B5EF4-FFF2-40B4-BE49-F238E27FC236}">
                <a16:creationId xmlns:a16="http://schemas.microsoft.com/office/drawing/2014/main" id="{66D8FB46-B33B-44AA-8C35-0AD9F09E5CF0}"/>
              </a:ext>
            </a:extLst>
          </p:cNvPr>
          <p:cNvSpPr/>
          <p:nvPr/>
        </p:nvSpPr>
        <p:spPr>
          <a:xfrm rot="5400000">
            <a:off x="6584789" y="4302709"/>
            <a:ext cx="562526" cy="511313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7" name="Стрелка: вправо 56">
            <a:extLst>
              <a:ext uri="{FF2B5EF4-FFF2-40B4-BE49-F238E27FC236}">
                <a16:creationId xmlns:a16="http://schemas.microsoft.com/office/drawing/2014/main" id="{81BED227-EB20-45A1-B0E5-17CEEF08AD2D}"/>
              </a:ext>
            </a:extLst>
          </p:cNvPr>
          <p:cNvSpPr/>
          <p:nvPr/>
        </p:nvSpPr>
        <p:spPr>
          <a:xfrm rot="5400000">
            <a:off x="6584789" y="6172019"/>
            <a:ext cx="562526" cy="511313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8" name="Стрелка: вправо 57">
            <a:extLst>
              <a:ext uri="{FF2B5EF4-FFF2-40B4-BE49-F238E27FC236}">
                <a16:creationId xmlns:a16="http://schemas.microsoft.com/office/drawing/2014/main" id="{A3AC3143-4220-4E4B-A0DE-0125CED95AB4}"/>
              </a:ext>
            </a:extLst>
          </p:cNvPr>
          <p:cNvSpPr/>
          <p:nvPr/>
        </p:nvSpPr>
        <p:spPr>
          <a:xfrm rot="5400000">
            <a:off x="9646053" y="2064764"/>
            <a:ext cx="562526" cy="511313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9" name="Стрелка: вправо 58">
            <a:extLst>
              <a:ext uri="{FF2B5EF4-FFF2-40B4-BE49-F238E27FC236}">
                <a16:creationId xmlns:a16="http://schemas.microsoft.com/office/drawing/2014/main" id="{B9CE61DB-CA34-4B17-A912-D8EFC96EE588}"/>
              </a:ext>
            </a:extLst>
          </p:cNvPr>
          <p:cNvSpPr/>
          <p:nvPr/>
        </p:nvSpPr>
        <p:spPr>
          <a:xfrm rot="5400000">
            <a:off x="9707355" y="4328787"/>
            <a:ext cx="562526" cy="511313"/>
          </a:xfrm>
          <a:prstGeom prst="rightArrow">
            <a:avLst/>
          </a:prstGeo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1777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205</Words>
  <Application>Microsoft Office PowerPoint</Application>
  <PresentationFormat>Широкоэкранный</PresentationFormat>
  <Paragraphs>69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npc</dc:creator>
  <cp:lastModifiedBy>npc</cp:lastModifiedBy>
  <cp:revision>10</cp:revision>
  <dcterms:created xsi:type="dcterms:W3CDTF">2026-10-20T06:53:59Z</dcterms:created>
  <dcterms:modified xsi:type="dcterms:W3CDTF">2026-10-21T09:37:21Z</dcterms:modified>
</cp:coreProperties>
</file>